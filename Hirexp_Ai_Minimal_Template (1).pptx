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493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9D0E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9D0E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Panel"/>
          <p:cNvSpPr/>
          <p:nvPr/>
        </p:nvSpPr>
        <p:spPr>
          <a:xfrm>
            <a:off x="411480" y="411480"/>
            <a:ext cx="5394960" cy="4251960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868680" y="1005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4400" dirty="0"/>
          </a:p>
        </p:txBody>
      </p:sp>
      <p:sp>
        <p:nvSpPr>
          <p:cNvPr id="4" name="Subtitle"/>
          <p:cNvSpPr txBox="1"/>
          <p:nvPr/>
        </p:nvSpPr>
        <p:spPr>
          <a:xfrm>
            <a:off x="868680" y="18745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 with AI-Powered Interview using Interactive AI Avatars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00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Satish  |  Sravani  |  Sumanjali  |  Mounika</a:t>
            </a:r>
            <a:endParaRPr lang="en-US" sz="1200" dirty="0"/>
          </a:p>
        </p:txBody>
      </p:sp>
      <p:sp>
        <p:nvSpPr>
          <p:cNvPr id="7" name="Dot"/>
          <p:cNvSpPr/>
          <p:nvPr/>
        </p:nvSpPr>
        <p:spPr>
          <a:xfrm>
            <a:off x="868680" y="4114800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996696" y="4114800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1124712" y="4114800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868680" y="4242816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996696" y="4242816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2" name="Dot"/>
          <p:cNvSpPr/>
          <p:nvPr/>
        </p:nvSpPr>
        <p:spPr>
          <a:xfrm>
            <a:off x="1124712" y="4242816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868680" y="4370832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996696" y="4370832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1124712" y="4370832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6" name="BigCircle"/>
          <p:cNvSpPr/>
          <p:nvPr/>
        </p:nvSpPr>
        <p:spPr>
          <a:xfrm>
            <a:off x="6309360" y="640080"/>
            <a:ext cx="2468880" cy="2468880"/>
          </a:xfrm>
          <a:prstGeom prst="ellipse">
            <a:avLst/>
          </a:prstGeom>
          <a:solidFill>
            <a:srgbClr val="24387A"/>
          </a:solidFill>
          <a:ln w="12700">
            <a:solidFill>
              <a:srgbClr val="24387A"/>
            </a:solidFill>
            <a:prstDash val="solid"/>
          </a:ln>
        </p:spPr>
      </p:sp>
      <p:pic>
        <p:nvPicPr>
          <p:cNvPr id="17" name="Image 0" descr="Robo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325880"/>
            <a:ext cx="1097280" cy="1097280"/>
          </a:xfrm>
          <a:prstGeom prst="rect">
            <a:avLst/>
          </a:prstGeom>
        </p:spPr>
      </p:pic>
      <p:sp>
        <p:nvSpPr>
          <p:cNvPr id="18" name="GoldCircle"/>
          <p:cNvSpPr/>
          <p:nvPr/>
        </p:nvSpPr>
        <p:spPr>
          <a:xfrm>
            <a:off x="6035040" y="2926080"/>
            <a:ext cx="914400" cy="91440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pic>
        <p:nvPicPr>
          <p:cNvPr id="19" name="Image 1" descr="Resum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00400"/>
            <a:ext cx="365760" cy="3657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589520" y="33832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2" descr="Microphon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3611880"/>
            <a:ext cx="365760" cy="365760"/>
          </a:xfrm>
          <a:prstGeom prst="rect">
            <a:avLst/>
          </a:prstGeom>
        </p:spPr>
      </p:pic>
      <p:sp>
        <p:nvSpPr>
          <p:cNvPr id="22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9D0E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3000" dirty="0"/>
          </a:p>
        </p:txBody>
      </p:sp>
      <p:graphicFrame>
        <p:nvGraphicFramePr>
          <p:cNvPr id="3" name="Tea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315468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Team members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0" marR="228600" marT="0" marB="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0" marR="228600" marT="0" marB="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62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0" marR="228600" marT="0" marB="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Lead and Core Backend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0" marR="228600" marT="0" marB="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62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Sravani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0" marR="228600" marT="0" marB="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AI/NLP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0" marR="228600" marT="0" marB="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62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Mounika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0" marR="228600" marT="0" marB="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and Deployment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0" marR="228600" marT="0" marB="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62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Sumanjali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0" marR="228600" marT="0" marB="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QA, Data and Documentation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0" marR="228600" marT="0" marB="0" anchor="ctr">
                    <a:lnL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Panel"/>
          <p:cNvSpPr/>
          <p:nvPr/>
        </p:nvSpPr>
        <p:spPr>
          <a:xfrm>
            <a:off x="-365760" y="0"/>
            <a:ext cx="4754880" cy="5143500"/>
          </a:xfrm>
          <a:prstGeom prst="roundRect">
            <a:avLst>
              <a:gd name="adj" fmla="val 7692"/>
            </a:avLst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65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800" dirty="0"/>
          </a:p>
        </p:txBody>
      </p:sp>
      <p:sp>
        <p:nvSpPr>
          <p:cNvPr id="5" name="Bullets"/>
          <p:cNvSpPr txBox="1"/>
          <p:nvPr/>
        </p:nvSpPr>
        <p:spPr>
          <a:xfrm>
            <a:off x="548640" y="20574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receive hundreds of resumes for one opening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First-round interviews take heavy scheduling effort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reviewers judge the same resume differently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4937760" y="1417320"/>
            <a:ext cx="3657600" cy="658368"/>
          </a:xfrm>
          <a:prstGeom prst="roundRect">
            <a:avLst>
              <a:gd name="adj" fmla="val 20833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5074920" y="1545336"/>
            <a:ext cx="402336" cy="402336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9" name="BadgeText"/>
          <p:cNvSpPr txBox="1"/>
          <p:nvPr/>
        </p:nvSpPr>
        <p:spPr>
          <a:xfrm>
            <a:off x="5074920" y="1545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4173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is slow and inconsistent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937760" y="2194560"/>
            <a:ext cx="3657600" cy="658368"/>
          </a:xfrm>
          <a:prstGeom prst="roundRect">
            <a:avLst>
              <a:gd name="adj" fmla="val 20833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5074920" y="2322576"/>
            <a:ext cx="402336" cy="402336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3" name="BadgeText"/>
          <p:cNvSpPr txBox="1"/>
          <p:nvPr/>
        </p:nvSpPr>
        <p:spPr>
          <a:xfrm>
            <a:off x="5074920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21945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Keyword-only filters miss candidates who word skills differently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937760" y="2971800"/>
            <a:ext cx="3657600" cy="658368"/>
          </a:xfrm>
          <a:prstGeom prst="roundRect">
            <a:avLst>
              <a:gd name="adj" fmla="val 20833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5074920" y="3099816"/>
            <a:ext cx="402336" cy="402336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7" name="BadgeText"/>
          <p:cNvSpPr txBox="1"/>
          <p:nvPr/>
        </p:nvSpPr>
        <p:spPr>
          <a:xfrm>
            <a:off x="5074920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9718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are rarely explained or backed by evidence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937760" y="3749040"/>
            <a:ext cx="3657600" cy="658368"/>
          </a:xfrm>
          <a:prstGeom prst="roundRect">
            <a:avLst>
              <a:gd name="adj" fmla="val 20833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5074920" y="3877056"/>
            <a:ext cx="402336" cy="402336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21" name="BadgeText"/>
          <p:cNvSpPr txBox="1"/>
          <p:nvPr/>
        </p:nvSpPr>
        <p:spPr>
          <a:xfrm>
            <a:off x="507492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7490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risk when personal details influence decisions</a:t>
            </a:r>
            <a:endParaRPr lang="en-US" sz="1300" dirty="0"/>
          </a:p>
        </p:txBody>
      </p:sp>
      <p:sp>
        <p:nvSpPr>
          <p:cNvPr id="23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 vs Proposed System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3749040" cy="3337560"/>
          </a:xfrm>
          <a:prstGeom prst="roundRect">
            <a:avLst>
              <a:gd name="adj" fmla="val 411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4572000" y="1234440"/>
            <a:ext cx="4023360" cy="3337560"/>
          </a:xfrm>
          <a:prstGeom prst="roundRect">
            <a:avLst>
              <a:gd name="adj" fmla="val 4110"/>
            </a:avLst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</a:t>
            </a:r>
            <a:endParaRPr lang="en-US" sz="1800" dirty="0"/>
          </a:p>
        </p:txBody>
      </p:sp>
      <p:sp>
        <p:nvSpPr>
          <p:cNvPr id="6" name="Bullets"/>
          <p:cNvSpPr txBox="1"/>
          <p:nvPr/>
        </p:nvSpPr>
        <p:spPr>
          <a:xfrm>
            <a:off x="822960" y="20116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reading of every resume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keyword filters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human first-round calls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with no stated reasons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800" dirty="0"/>
          </a:p>
        </p:txBody>
      </p:sp>
      <p:sp>
        <p:nvSpPr>
          <p:cNvPr id="8" name="Bullets"/>
          <p:cNvSpPr txBox="1"/>
          <p:nvPr/>
        </p:nvSpPr>
        <p:spPr>
          <a:xfrm>
            <a:off x="484632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with duplicate detection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score: keywords, similarity, experience, AI semantics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excerpts for every matched skill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Avatar-led, resume-based interview with rubric scoring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makes the final decision</a:t>
            </a:r>
            <a:endParaRPr lang="en-US" sz="1400" dirty="0"/>
          </a:p>
        </p:txBody>
      </p:sp>
      <p:sp>
        <p:nvSpPr>
          <p:cNvPr id="9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3931920" cy="932688"/>
          </a:xfrm>
          <a:prstGeom prst="roundRect">
            <a:avLst>
              <a:gd name="adj" fmla="val 1470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31520" y="1435608"/>
            <a:ext cx="530352" cy="530352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5" name="BadgeText"/>
          <p:cNvSpPr txBox="1"/>
          <p:nvPr/>
        </p:nvSpPr>
        <p:spPr>
          <a:xfrm>
            <a:off x="731520" y="1435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23444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resumes in bulk, with duplicate and failure handling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663440" y="1234440"/>
            <a:ext cx="3931920" cy="932688"/>
          </a:xfrm>
          <a:prstGeom prst="roundRect">
            <a:avLst>
              <a:gd name="adj" fmla="val 1470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4846320" y="1435608"/>
            <a:ext cx="530352" cy="530352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9" name="BadgeText"/>
          <p:cNvSpPr txBox="1"/>
          <p:nvPr/>
        </p:nvSpPr>
        <p:spPr>
          <a:xfrm>
            <a:off x="4846320" y="1435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23444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candidates with an explainable multi-metric model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548640" y="2331720"/>
            <a:ext cx="3931920" cy="932688"/>
          </a:xfrm>
          <a:prstGeom prst="roundRect">
            <a:avLst>
              <a:gd name="adj" fmla="val 1470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731520" y="2532888"/>
            <a:ext cx="530352" cy="530352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13" name="BadgeText"/>
          <p:cNvSpPr txBox="1"/>
          <p:nvPr/>
        </p:nvSpPr>
        <p:spPr>
          <a:xfrm>
            <a:off x="731520" y="2532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33172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name, age, gender and other protected traits from scoring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663440" y="2331720"/>
            <a:ext cx="3931920" cy="932688"/>
          </a:xfrm>
          <a:prstGeom prst="roundRect">
            <a:avLst>
              <a:gd name="adj" fmla="val 1470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4846320" y="2532888"/>
            <a:ext cx="530352" cy="530352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7" name="BadgeText"/>
          <p:cNvSpPr txBox="1"/>
          <p:nvPr/>
        </p:nvSpPr>
        <p:spPr>
          <a:xfrm>
            <a:off x="4846320" y="2532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33172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shortlisted candidates through secure single-use links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48640" y="3429000"/>
            <a:ext cx="3931920" cy="932688"/>
          </a:xfrm>
          <a:prstGeom prst="roundRect">
            <a:avLst>
              <a:gd name="adj" fmla="val 1470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731520" y="3630168"/>
            <a:ext cx="530352" cy="530352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21" name="BadgeText"/>
          <p:cNvSpPr txBox="1"/>
          <p:nvPr/>
        </p:nvSpPr>
        <p:spPr>
          <a:xfrm>
            <a:off x="731520" y="3630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42900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avatar-led interview with voice questions and typed or spoken answers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4663440" y="3429000"/>
            <a:ext cx="3931920" cy="932688"/>
          </a:xfrm>
          <a:prstGeom prst="roundRect">
            <a:avLst>
              <a:gd name="adj" fmla="val 1470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846320" y="3630168"/>
            <a:ext cx="530352" cy="530352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25" name="BadgeText"/>
          <p:cNvSpPr txBox="1"/>
          <p:nvPr/>
        </p:nvSpPr>
        <p:spPr>
          <a:xfrm>
            <a:off x="4846320" y="3630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342900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answers by transparent rubrics and keep a human in control</a:t>
            </a:r>
            <a:endParaRPr lang="en-US" sz="1300" dirty="0"/>
          </a:p>
        </p:txBody>
      </p:sp>
      <p:sp>
        <p:nvSpPr>
          <p:cNvPr id="27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Screening: resumes to shortlist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88720" y="1874520"/>
            <a:ext cx="6766560" cy="0"/>
          </a:xfrm>
          <a:prstGeom prst="line">
            <a:avLst/>
          </a:prstGeom>
          <a:noFill/>
          <a:ln w="25400">
            <a:solidFill>
              <a:srgbClr val="C9D0E8"/>
            </a:solidFill>
            <a:prstDash val="dash"/>
          </a:ln>
        </p:spPr>
      </p:sp>
      <p:sp>
        <p:nvSpPr>
          <p:cNvPr id="5" name="Badge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6" name="BadgeText"/>
          <p:cNvSpPr txBox="1"/>
          <p:nvPr/>
        </p:nvSpPr>
        <p:spPr>
          <a:xfrm>
            <a:off x="9144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/ DOCX resumes</a:t>
            </a:r>
            <a:endParaRPr lang="en-US" sz="1200" dirty="0"/>
          </a:p>
        </p:txBody>
      </p:sp>
      <p:sp>
        <p:nvSpPr>
          <p:cNvPr id="8" name="Badge"/>
          <p:cNvSpPr/>
          <p:nvPr/>
        </p:nvSpPr>
        <p:spPr>
          <a:xfrm>
            <a:off x="2606040" y="1600200"/>
            <a:ext cx="548640" cy="54864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9" name="BadgeText"/>
          <p:cNvSpPr txBox="1"/>
          <p:nvPr/>
        </p:nvSpPr>
        <p:spPr>
          <a:xfrm>
            <a:off x="2606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hash, remove duplicates</a:t>
            </a:r>
            <a:endParaRPr lang="en-US" sz="1200" dirty="0"/>
          </a:p>
        </p:txBody>
      </p:sp>
      <p:sp>
        <p:nvSpPr>
          <p:cNvPr id="11" name="Badge"/>
          <p:cNvSpPr/>
          <p:nvPr/>
        </p:nvSpPr>
        <p:spPr>
          <a:xfrm>
            <a:off x="4297680" y="1600200"/>
            <a:ext cx="548640" cy="54864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12" name="BadgeText"/>
          <p:cNvSpPr txBox="1"/>
          <p:nvPr/>
        </p:nvSpPr>
        <p:spPr>
          <a:xfrm>
            <a:off x="42976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skills and experience</a:t>
            </a:r>
            <a:endParaRPr lang="en-US" sz="1200" dirty="0"/>
          </a:p>
        </p:txBody>
      </p:sp>
      <p:sp>
        <p:nvSpPr>
          <p:cNvPr id="14" name="Badge"/>
          <p:cNvSpPr/>
          <p:nvPr/>
        </p:nvSpPr>
        <p:spPr>
          <a:xfrm>
            <a:off x="5989320" y="1600200"/>
            <a:ext cx="548640" cy="54864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15" name="BadgeText"/>
          <p:cNvSpPr txBox="1"/>
          <p:nvPr/>
        </p:nvSpPr>
        <p:spPr>
          <a:xfrm>
            <a:off x="59893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the job</a:t>
            </a:r>
            <a:endParaRPr lang="en-US" sz="1200" dirty="0"/>
          </a:p>
        </p:txBody>
      </p:sp>
      <p:sp>
        <p:nvSpPr>
          <p:cNvPr id="17" name="Badge"/>
          <p:cNvSpPr/>
          <p:nvPr/>
        </p:nvSpPr>
        <p:spPr>
          <a:xfrm>
            <a:off x="7680960" y="1600200"/>
            <a:ext cx="548640" cy="54864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18" name="BadgeText"/>
          <p:cNvSpPr txBox="1"/>
          <p:nvPr/>
        </p:nvSpPr>
        <p:spPr>
          <a:xfrm>
            <a:off x="7680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shortlists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Interview: invitation to report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88720" y="3566160"/>
            <a:ext cx="6766560" cy="0"/>
          </a:xfrm>
          <a:prstGeom prst="line">
            <a:avLst/>
          </a:prstGeom>
          <a:noFill/>
          <a:ln w="25400">
            <a:solidFill>
              <a:srgbClr val="C9D0E8"/>
            </a:solidFill>
            <a:prstDash val="dash"/>
          </a:ln>
        </p:spPr>
      </p:sp>
      <p:sp>
        <p:nvSpPr>
          <p:cNvPr id="22" name="Badge"/>
          <p:cNvSpPr/>
          <p:nvPr/>
        </p:nvSpPr>
        <p:spPr>
          <a:xfrm>
            <a:off x="914400" y="3291840"/>
            <a:ext cx="548640" cy="54864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23" name="BadgeText"/>
          <p:cNvSpPr txBox="1"/>
          <p:nvPr/>
        </p:nvSpPr>
        <p:spPr>
          <a:xfrm>
            <a:off x="9144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 invite</a:t>
            </a:r>
            <a:endParaRPr lang="en-US" sz="1200" dirty="0"/>
          </a:p>
        </p:txBody>
      </p:sp>
      <p:sp>
        <p:nvSpPr>
          <p:cNvPr id="25" name="Badge"/>
          <p:cNvSpPr/>
          <p:nvPr/>
        </p:nvSpPr>
        <p:spPr>
          <a:xfrm>
            <a:off x="2606040" y="3291840"/>
            <a:ext cx="548640" cy="54864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26" name="BadgeText"/>
          <p:cNvSpPr txBox="1"/>
          <p:nvPr/>
        </p:nvSpPr>
        <p:spPr>
          <a:xfrm>
            <a:off x="26060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gives consent</a:t>
            </a:r>
            <a:endParaRPr lang="en-US" sz="1200" dirty="0"/>
          </a:p>
        </p:txBody>
      </p:sp>
      <p:sp>
        <p:nvSpPr>
          <p:cNvPr id="28" name="Badge"/>
          <p:cNvSpPr/>
          <p:nvPr/>
        </p:nvSpPr>
        <p:spPr>
          <a:xfrm>
            <a:off x="4297680" y="3291840"/>
            <a:ext cx="548640" cy="54864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29" name="BadgeText"/>
          <p:cNvSpPr txBox="1"/>
          <p:nvPr/>
        </p:nvSpPr>
        <p:spPr>
          <a:xfrm>
            <a:off x="42976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79476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asks resume-based questions</a:t>
            </a:r>
            <a:endParaRPr lang="en-US" sz="1200" dirty="0"/>
          </a:p>
        </p:txBody>
      </p:sp>
      <p:sp>
        <p:nvSpPr>
          <p:cNvPr id="31" name="Badge"/>
          <p:cNvSpPr/>
          <p:nvPr/>
        </p:nvSpPr>
        <p:spPr>
          <a:xfrm>
            <a:off x="5989320" y="3291840"/>
            <a:ext cx="548640" cy="54864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32" name="BadgeText"/>
          <p:cNvSpPr txBox="1"/>
          <p:nvPr/>
        </p:nvSpPr>
        <p:spPr>
          <a:xfrm>
            <a:off x="59893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scoring and follow-ups</a:t>
            </a:r>
            <a:endParaRPr lang="en-US" sz="1200" dirty="0"/>
          </a:p>
        </p:txBody>
      </p:sp>
      <p:sp>
        <p:nvSpPr>
          <p:cNvPr id="34" name="Badge"/>
          <p:cNvSpPr/>
          <p:nvPr/>
        </p:nvSpPr>
        <p:spPr>
          <a:xfrm>
            <a:off x="7680960" y="3291840"/>
            <a:ext cx="548640" cy="54864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35" name="BadgeText"/>
          <p:cNvSpPr txBox="1"/>
          <p:nvPr/>
        </p:nvSpPr>
        <p:spPr>
          <a:xfrm>
            <a:off x="768096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 the recruiter</a:t>
            </a:r>
            <a:endParaRPr lang="en-US" sz="1200" dirty="0"/>
          </a:p>
        </p:txBody>
      </p:sp>
      <p:sp>
        <p:nvSpPr>
          <p:cNvPr id="37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Modules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1874520" cy="1280160"/>
          </a:xfrm>
          <a:prstGeom prst="roundRect">
            <a:avLst>
              <a:gd name="adj" fmla="val 10714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13232" y="1353312"/>
            <a:ext cx="420624" cy="420624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5" name="BadgeText"/>
          <p:cNvSpPr txBox="1"/>
          <p:nvPr/>
        </p:nvSpPr>
        <p:spPr>
          <a:xfrm>
            <a:off x="71323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47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and Job Management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2606040" y="1188720"/>
            <a:ext cx="1874520" cy="1280160"/>
          </a:xfrm>
          <a:prstGeom prst="roundRect">
            <a:avLst>
              <a:gd name="adj" fmla="val 10714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2770632" y="1353312"/>
            <a:ext cx="420624" cy="420624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9" name="BadgeText"/>
          <p:cNvSpPr txBox="1"/>
          <p:nvPr/>
        </p:nvSpPr>
        <p:spPr>
          <a:xfrm>
            <a:off x="277063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70632" y="1847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Resume Processing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663440" y="1188720"/>
            <a:ext cx="1874520" cy="1280160"/>
          </a:xfrm>
          <a:prstGeom prst="roundRect">
            <a:avLst>
              <a:gd name="adj" fmla="val 10714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4828032" y="1353312"/>
            <a:ext cx="420624" cy="420624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13" name="BadgeText"/>
          <p:cNvSpPr txBox="1"/>
          <p:nvPr/>
        </p:nvSpPr>
        <p:spPr>
          <a:xfrm>
            <a:off x="482803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1847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Extraction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720840" y="1188720"/>
            <a:ext cx="1874520" cy="1280160"/>
          </a:xfrm>
          <a:prstGeom prst="roundRect">
            <a:avLst>
              <a:gd name="adj" fmla="val 10714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6885432" y="1353312"/>
            <a:ext cx="420624" cy="420624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17" name="BadgeText"/>
          <p:cNvSpPr txBox="1"/>
          <p:nvPr/>
        </p:nvSpPr>
        <p:spPr>
          <a:xfrm>
            <a:off x="688543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1847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and Scoring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48640" y="2606040"/>
            <a:ext cx="1874520" cy="1280160"/>
          </a:xfrm>
          <a:prstGeom prst="roundRect">
            <a:avLst>
              <a:gd name="adj" fmla="val 10714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713232" y="2770632"/>
            <a:ext cx="420624" cy="420624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21" name="BadgeText"/>
          <p:cNvSpPr txBox="1"/>
          <p:nvPr/>
        </p:nvSpPr>
        <p:spPr>
          <a:xfrm>
            <a:off x="713232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and Invitations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2606040" y="2606040"/>
            <a:ext cx="1874520" cy="1280160"/>
          </a:xfrm>
          <a:prstGeom prst="roundRect">
            <a:avLst>
              <a:gd name="adj" fmla="val 10714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2770632" y="2770632"/>
            <a:ext cx="420624" cy="420624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25" name="BadgeText"/>
          <p:cNvSpPr txBox="1"/>
          <p:nvPr/>
        </p:nvSpPr>
        <p:spPr>
          <a:xfrm>
            <a:off x="2770632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770632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Interview Engine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4663440" y="2606040"/>
            <a:ext cx="1874520" cy="1280160"/>
          </a:xfrm>
          <a:prstGeom prst="roundRect">
            <a:avLst>
              <a:gd name="adj" fmla="val 10714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4828032" y="2770632"/>
            <a:ext cx="420624" cy="420624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29" name="BadgeText"/>
          <p:cNvSpPr txBox="1"/>
          <p:nvPr/>
        </p:nvSpPr>
        <p:spPr>
          <a:xfrm>
            <a:off x="4828032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28032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Avatar and Speech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6720840" y="2606040"/>
            <a:ext cx="1874520" cy="1280160"/>
          </a:xfrm>
          <a:prstGeom prst="roundRect">
            <a:avLst>
              <a:gd name="adj" fmla="val 10714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6885432" y="2770632"/>
            <a:ext cx="420624" cy="420624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33" name="BadgeText"/>
          <p:cNvSpPr txBox="1"/>
          <p:nvPr/>
        </p:nvSpPr>
        <p:spPr>
          <a:xfrm>
            <a:off x="6885432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85432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Analytics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roles and privacy tools run across every module.</a:t>
            </a:r>
            <a:endParaRPr lang="en-US" sz="1300" dirty="0"/>
          </a:p>
        </p:txBody>
      </p:sp>
      <p:sp>
        <p:nvSpPr>
          <p:cNvPr id="36" name="Dot"/>
          <p:cNvSpPr/>
          <p:nvPr/>
        </p:nvSpPr>
        <p:spPr>
          <a:xfrm>
            <a:off x="8138160" y="4069080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37" name="Dot"/>
          <p:cNvSpPr/>
          <p:nvPr/>
        </p:nvSpPr>
        <p:spPr>
          <a:xfrm>
            <a:off x="8266176" y="4069080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38" name="Dot"/>
          <p:cNvSpPr/>
          <p:nvPr/>
        </p:nvSpPr>
        <p:spPr>
          <a:xfrm>
            <a:off x="8394192" y="4069080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39" name="Dot"/>
          <p:cNvSpPr/>
          <p:nvPr/>
        </p:nvSpPr>
        <p:spPr>
          <a:xfrm>
            <a:off x="8138160" y="4197096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40" name="Dot"/>
          <p:cNvSpPr/>
          <p:nvPr/>
        </p:nvSpPr>
        <p:spPr>
          <a:xfrm>
            <a:off x="8266176" y="4197096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41" name="Dot"/>
          <p:cNvSpPr/>
          <p:nvPr/>
        </p:nvSpPr>
        <p:spPr>
          <a:xfrm>
            <a:off x="8394192" y="4197096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42" name="Dot"/>
          <p:cNvSpPr/>
          <p:nvPr/>
        </p:nvSpPr>
        <p:spPr>
          <a:xfrm>
            <a:off x="8138160" y="4325112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43" name="Dot"/>
          <p:cNvSpPr/>
          <p:nvPr/>
        </p:nvSpPr>
        <p:spPr>
          <a:xfrm>
            <a:off x="8266176" y="4325112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44" name="Dot"/>
          <p:cNvSpPr/>
          <p:nvPr/>
        </p:nvSpPr>
        <p:spPr>
          <a:xfrm>
            <a:off x="8394192" y="4325112"/>
            <a:ext cx="45720" cy="4572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45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and Scoring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1874520" cy="1600200"/>
          </a:xfrm>
          <a:prstGeom prst="roundRect">
            <a:avLst>
              <a:gd name="adj" fmla="val 857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IconCircle"/>
          <p:cNvSpPr/>
          <p:nvPr/>
        </p:nvSpPr>
        <p:spPr>
          <a:xfrm>
            <a:off x="713232" y="1353312"/>
            <a:ext cx="457200" cy="45720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5" name="Image 0" descr="Fa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4676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coverage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 found in the resume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606040" y="1188720"/>
            <a:ext cx="1874520" cy="1600200"/>
          </a:xfrm>
          <a:prstGeom prst="roundRect">
            <a:avLst>
              <a:gd name="adj" fmla="val 857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9" name="IconCircle"/>
          <p:cNvSpPr/>
          <p:nvPr/>
        </p:nvSpPr>
        <p:spPr>
          <a:xfrm>
            <a:off x="2770632" y="1353312"/>
            <a:ext cx="457200" cy="45720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10" name="Image 1" descr="FaFileA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932" y="14676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70632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similarity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770632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with the job description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663440" y="1188720"/>
            <a:ext cx="1874520" cy="1600200"/>
          </a:xfrm>
          <a:prstGeom prst="roundRect">
            <a:avLst>
              <a:gd name="adj" fmla="val 857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4" name="IconCircle"/>
          <p:cNvSpPr/>
          <p:nvPr/>
        </p:nvSpPr>
        <p:spPr>
          <a:xfrm>
            <a:off x="4828032" y="1353312"/>
            <a:ext cx="457200" cy="45720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15" name="Image 2" descr="FaBriefc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332" y="146761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28032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match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828032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years against required years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720840" y="1188720"/>
            <a:ext cx="1874520" cy="1600200"/>
          </a:xfrm>
          <a:prstGeom prst="roundRect">
            <a:avLst>
              <a:gd name="adj" fmla="val 857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9" name="IconCircle"/>
          <p:cNvSpPr/>
          <p:nvPr/>
        </p:nvSpPr>
        <p:spPr>
          <a:xfrm>
            <a:off x="6885432" y="1353312"/>
            <a:ext cx="457200" cy="45720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20" name="Image 3" descr="FaBra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732" y="146761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85432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885432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judgement of overall fit</a:t>
            </a:r>
            <a:endParaRPr lang="en-US" sz="1200" dirty="0"/>
          </a:p>
        </p:txBody>
      </p:sp>
      <p:sp>
        <p:nvSpPr>
          <p:cNvPr id="23" name="ScorePanel"/>
          <p:cNvSpPr/>
          <p:nvPr/>
        </p:nvSpPr>
        <p:spPr>
          <a:xfrm>
            <a:off x="548640" y="2971800"/>
            <a:ext cx="8046720" cy="1600200"/>
          </a:xfrm>
          <a:prstGeom prst="roundRect">
            <a:avLst>
              <a:gd name="adj" fmla="val 8571"/>
            </a:avLst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3108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= weighted average of the four metrics (default 25% each, adjustable per job)</a:t>
            </a:r>
            <a:endParaRPr lang="en-US" sz="1400" dirty="0"/>
          </a:p>
        </p:txBody>
      </p:sp>
      <p:sp>
        <p:nvSpPr>
          <p:cNvPr id="25" name="Bullets"/>
          <p:cNvSpPr txBox="1"/>
          <p:nvPr/>
        </p:nvSpPr>
        <p:spPr>
          <a:xfrm>
            <a:off x="82296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or above and mandatory criteria met: Meets Configured Criteria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15 points of the threshold: Needs Manual Review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Does Not Meet Configured Criteria</a:t>
            </a:r>
            <a:endParaRPr lang="en-US" sz="1300" dirty="0"/>
          </a:p>
        </p:txBody>
      </p:sp>
      <p:sp>
        <p:nvSpPr>
          <p:cNvPr id="26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Avatar Interview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4663440" y="118872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and questions</a:t>
            </a:r>
            <a:endParaRPr lang="en-US" sz="1800" dirty="0"/>
          </a:p>
        </p:txBody>
      </p:sp>
      <p:sp>
        <p:nvSpPr>
          <p:cNvPr id="6" name="Bullets"/>
          <p:cNvSpPr txBox="1"/>
          <p:nvPr/>
        </p:nvSpPr>
        <p:spPr>
          <a:xfrm>
            <a:off x="777240" y="182880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avatar: idle, speaking, listening, thinking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read aloud by browser speech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by voice or by typing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drawn from the candidate's own resume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Mix: technical 30%, projects 30%, HR 20%, certifications 10%, problem-solving 10%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scoring (100 points)</a:t>
            </a:r>
            <a:endParaRPr lang="en-US" sz="1800" dirty="0"/>
          </a:p>
        </p:txBody>
      </p:sp>
      <p:sp>
        <p:nvSpPr>
          <p:cNvPr id="8" name="Bullets"/>
          <p:cNvSpPr txBox="1"/>
          <p:nvPr/>
        </p:nvSpPr>
        <p:spPr>
          <a:xfrm>
            <a:off x="4892040" y="182880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correctness 40, reasoning 25, application 20, communication 15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(STAR): relevance 30, structure 25, examples 25, communication 20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missing concepts and follow-up question for every answer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score = mean of question scores</a:t>
            </a:r>
            <a:endParaRPr lang="en-US" sz="1400" dirty="0"/>
          </a:p>
        </p:txBody>
      </p:sp>
      <p:sp>
        <p:nvSpPr>
          <p:cNvPr id="9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IconCircle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5" name="Image 0" descr="FaDesk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385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custom CSS, Plotly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9" name="IconCircle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10" name="Image 1" descr="Fa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385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3.11, Pydantic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4" name="IconCircle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15" name="Image 2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385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with SQLite (PostgreSQL ready)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548640" y="269748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9" name="IconCircle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20" name="Image 3" descr="FaFile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29946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447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for PDF, DOCX reader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3291840" y="269748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4" name="IconCircle"/>
          <p:cNvSpPr/>
          <p:nvPr/>
        </p:nvSpPr>
        <p:spPr>
          <a:xfrm>
            <a:off x="3474720" y="2880360"/>
            <a:ext cx="457200" cy="45720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25" name="Image 4" descr="FaProjectDiagra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020" y="299466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447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TF-IDF and cosine similarity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6035040" y="269748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9" name="IconCircle"/>
          <p:cNvSpPr/>
          <p:nvPr/>
        </p:nvSpPr>
        <p:spPr>
          <a:xfrm>
            <a:off x="6217920" y="2880360"/>
            <a:ext cx="457200" cy="45720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30" name="Image 5" descr="FaMagi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2220" y="299466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447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with offline fallback mode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4297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are read from environment variables, never hard-coded.</a:t>
            </a:r>
            <a:endParaRPr lang="en-US" sz="1300" dirty="0"/>
          </a:p>
        </p:txBody>
      </p:sp>
      <p:sp>
        <p:nvSpPr>
          <p:cNvPr id="34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Privacy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IconCircle"/>
          <p:cNvSpPr/>
          <p:nvPr/>
        </p:nvSpPr>
        <p:spPr>
          <a:xfrm>
            <a:off x="1508760" y="1371600"/>
            <a:ext cx="640080" cy="64008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5" name="Image 0" descr="Fa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800" dirty="0"/>
          </a:p>
        </p:txBody>
      </p:sp>
      <p:sp>
        <p:nvSpPr>
          <p:cNvPr id="7" name="Bullets"/>
          <p:cNvSpPr txBox="1"/>
          <p:nvPr/>
        </p:nvSpPr>
        <p:spPr>
          <a:xfrm>
            <a:off x="777240" y="2606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password hashing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admin, recruiter, hiring manager, candidate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Company-level data isolation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9" name="IconCircle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pic>
        <p:nvPicPr>
          <p:cNvPr id="10" name="Image 1" descr="FaShieldA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15316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918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800" dirty="0"/>
          </a:p>
        </p:txBody>
      </p:sp>
      <p:sp>
        <p:nvSpPr>
          <p:cNvPr id="12" name="Bullets"/>
          <p:cNvSpPr txBox="1"/>
          <p:nvPr/>
        </p:nvSpPr>
        <p:spPr>
          <a:xfrm>
            <a:off x="3520440" y="2606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single-use tokens, 72-hour expiry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filtering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escaping, audit log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4" name="IconCircle"/>
          <p:cNvSpPr/>
          <p:nvPr/>
        </p:nvSpPr>
        <p:spPr>
          <a:xfrm>
            <a:off x="6995160" y="1371600"/>
            <a:ext cx="640080" cy="640080"/>
          </a:xfrm>
          <a:prstGeom prst="ellipse">
            <a:avLst/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pic>
        <p:nvPicPr>
          <p:cNvPr id="15" name="Image 2" descr="FaUserSecr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15316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0350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800" dirty="0"/>
          </a:p>
        </p:txBody>
      </p:sp>
      <p:sp>
        <p:nvSpPr>
          <p:cNvPr id="17" name="Bullets"/>
          <p:cNvSpPr txBox="1"/>
          <p:nvPr/>
        </p:nvSpPr>
        <p:spPr>
          <a:xfrm>
            <a:off x="6263640" y="2606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interview consent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protected traits in scoring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Delete-on-request and 90-day purge</a:t>
            </a:r>
            <a:endParaRPr lang="en-US" sz="1400" dirty="0"/>
          </a:p>
        </p:txBody>
      </p:sp>
      <p:sp>
        <p:nvSpPr>
          <p:cNvPr id="18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Results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4663440" y="118872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800" dirty="0"/>
          </a:p>
        </p:txBody>
      </p:sp>
      <p:sp>
        <p:nvSpPr>
          <p:cNvPr id="6" name="Bullets"/>
          <p:cNvSpPr txBox="1"/>
          <p:nvPr/>
        </p:nvSpPr>
        <p:spPr>
          <a:xfrm>
            <a:off x="777240" y="182880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and file health checks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and screening logic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processing and duplicates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interview flow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permissions and security fixes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synthetic resumes plus 5 duplicates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Benchmark, 50 resumes</a:t>
            </a:r>
            <a:endParaRPr lang="en-US" sz="1800" dirty="0"/>
          </a:p>
        </p:txBody>
      </p:sp>
      <p:sp>
        <p:nvSpPr>
          <p:cNvPr id="8" name="Bullets"/>
          <p:cNvSpPr txBox="1"/>
          <p:nvPr/>
        </p:nvSpPr>
        <p:spPr>
          <a:xfrm>
            <a:off x="4892040" y="18288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worker threads, 2.41 s total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48 ms per resume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20.76 resumes per second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failures, 2% duplicates found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as reported in the project README.</a:t>
            </a:r>
            <a:endParaRPr lang="en-US" sz="1100" dirty="0"/>
          </a:p>
        </p:txBody>
      </p:sp>
      <p:sp>
        <p:nvSpPr>
          <p:cNvPr id="10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0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Panel"/>
          <p:cNvSpPr/>
          <p:nvPr/>
        </p:nvSpPr>
        <p:spPr>
          <a:xfrm>
            <a:off x="-365760" y="0"/>
            <a:ext cx="4754880" cy="5143500"/>
          </a:xfrm>
          <a:prstGeom prst="roundRect">
            <a:avLst>
              <a:gd name="adj" fmla="val 7692"/>
            </a:avLst>
          </a:prstGeom>
          <a:solidFill>
            <a:srgbClr val="16275A"/>
          </a:solidFill>
          <a:ln w="12700">
            <a:solidFill>
              <a:srgbClr val="16275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657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Enhancements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 speeds up high-volume hiring with explainable scores and an engaging avatar interview, while the recruiter always makes the final call.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recorded text and voice answers only; no live video or candidate tracking.</a:t>
            </a:r>
            <a:endParaRPr lang="en-US" sz="1200" dirty="0"/>
          </a:p>
        </p:txBody>
      </p:sp>
      <p:sp>
        <p:nvSpPr>
          <p:cNvPr id="6" name="GoldCorner"/>
          <p:cNvSpPr/>
          <p:nvPr/>
        </p:nvSpPr>
        <p:spPr>
          <a:xfrm>
            <a:off x="7955280" y="4297680"/>
            <a:ext cx="1828800" cy="1828800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8" name="Card"/>
          <p:cNvSpPr/>
          <p:nvPr/>
        </p:nvSpPr>
        <p:spPr>
          <a:xfrm>
            <a:off x="4937760" y="1417320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02352" y="1572768"/>
            <a:ext cx="146304" cy="146304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resumes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937760" y="1984248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02352" y="2139696"/>
            <a:ext cx="146304" cy="146304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1984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skill matching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937760" y="2551176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2352" y="2706624"/>
            <a:ext cx="146304" cy="146304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25511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 of invitations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937760" y="3118104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02352" y="3273552"/>
            <a:ext cx="146304" cy="146304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31181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interviews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937760" y="3685032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02352" y="3840480"/>
            <a:ext cx="146304" cy="146304"/>
          </a:xfrm>
          <a:prstGeom prst="ellipse">
            <a:avLst/>
          </a:prstGeom>
          <a:solidFill>
            <a:srgbClr val="C9A15E"/>
          </a:solidFill>
          <a:ln w="12700">
            <a:solidFill>
              <a:srgbClr val="C9A1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94960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bias reports</a:t>
            </a:r>
            <a:endParaRPr lang="en-US" sz="1400" dirty="0"/>
          </a:p>
        </p:txBody>
      </p:sp>
      <p:sp>
        <p:nvSpPr>
          <p:cNvPr id="23" name="Footer"/>
          <p:cNvSpPr txBox="1"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Hirexp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9D0E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Navy Gold">
  <a:themeElements>
    <a:clrScheme name="Minimal Navy Gold">
      <a:dk1>
        <a:srgbClr val="1B2447"/>
      </a:dk1>
      <a:lt1>
        <a:srgbClr val="FFFFFF"/>
      </a:lt1>
      <a:dk2>
        <a:srgbClr val="16275A"/>
      </a:dk2>
      <a:lt2>
        <a:srgbClr val="F3F4F8"/>
      </a:lt2>
      <a:accent1>
        <a:srgbClr val="16275A"/>
      </a:accent1>
      <a:accent2>
        <a:srgbClr val="C9A15E"/>
      </a:accent2>
      <a:accent3>
        <a:srgbClr val="24387A"/>
      </a:accent3>
      <a:accent4>
        <a:srgbClr val="667089"/>
      </a:accent4>
      <a:accent5>
        <a:srgbClr val="C9D0E8"/>
      </a:accent5>
      <a:accent6>
        <a:srgbClr val="E6D3AE"/>
      </a:accent6>
      <a:hlink>
        <a:srgbClr val="16275A"/>
      </a:hlink>
      <a:folHlink>
        <a:srgbClr val="667089"/>
      </a:folHlink>
    </a:clrScheme>
    <a:fontScheme name="Minimal Navy Gol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818</Words>
  <Application>Microsoft Office PowerPoint</Application>
  <PresentationFormat>On-screen Show (16:9)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Minimal Navy Gold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Hirexp Ai</dc:title>
  <dc:subject>PptxGenJS Presentation</dc:subject>
  <dc:creator>PptxGenJS</dc:creator>
  <cp:lastModifiedBy>Mounika Inumula</cp:lastModifiedBy>
  <cp:revision>2</cp:revision>
  <dcterms:created xsi:type="dcterms:W3CDTF">2026-10-30T06:24:22Z</dcterms:created>
  <dcterms:modified xsi:type="dcterms:W3CDTF">2026-10-30T06:35:34Z</dcterms:modified>
</cp:coreProperties>
</file>